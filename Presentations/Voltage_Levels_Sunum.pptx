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2"/>
  </p:sldMasterIdLst>
  <p:notesMasterIdLst>
    <p:notesMasterId r:id="rId16"/>
  </p:notesMasterIdLst>
  <p:sldIdLst>
    <p:sldId id="256" r:id="rId3"/>
    <p:sldId id="257" r:id="rId4"/>
    <p:sldId id="264" r:id="rId5"/>
    <p:sldId id="259" r:id="rId6"/>
    <p:sldId id="258" r:id="rId7"/>
    <p:sldId id="260" r:id="rId8"/>
    <p:sldId id="261" r:id="rId9"/>
    <p:sldId id="262" r:id="rId10"/>
    <p:sldId id="265" r:id="rId11"/>
    <p:sldId id="269" r:id="rId12"/>
    <p:sldId id="266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EABA3-3BED-428C-B61C-B3E6BBF8F19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B9A29-A8A2-461A-834B-D1D7F54491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17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B9A29-A8A2-461A-834B-D1D7F5449191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836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187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767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71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4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56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3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65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835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1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036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9672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2354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6151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160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0547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273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F1EB2-A9A8-45EF-82F4-363909A5164B}" type="datetimeFigureOut">
              <a:rPr lang="tr-TR" smtClean="0"/>
              <a:t>1.08.2025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1A84BA-940B-4FC6-B482-9DAF160DF507}" type="slidenum">
              <a:rPr lang="tr-TR" smtClean="0"/>
              <a:t>‹#›</a:t>
            </a:fld>
            <a:endParaRPr lang="tr-TR"/>
          </a:p>
        </p:txBody>
      </p:sp>
      <p:sp>
        <p:nvSpPr>
          <p:cNvPr id="18" name="fl" descr="UNCLASSIFIED">
            <a:extLst>
              <a:ext uri="{FF2B5EF4-FFF2-40B4-BE49-F238E27FC236}">
                <a16:creationId xmlns:a16="http://schemas.microsoft.com/office/drawing/2014/main" id="{A10316F6-04C9-42E7-B520-D6097CC83812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baseline="0">
                <a:solidFill>
                  <a:srgbClr val="000000"/>
                </a:solidFill>
                <a:latin typeface="trebuchet ms" panose="020B0603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62935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i.com/lit/an/slla120/slla120.pdf" TargetMode="External"/><Relationship Id="rId3" Type="http://schemas.openxmlformats.org/officeDocument/2006/relationships/hyperlink" Target="https://www.nxp.com/docs/en/user-guide/UM10204.pdf" TargetMode="External"/><Relationship Id="rId7" Type="http://schemas.openxmlformats.org/officeDocument/2006/relationships/hyperlink" Target="https://www.renesas.com/en/document/apn/lvds-pecl-termination-app-note" TargetMode="External"/><Relationship Id="rId2" Type="http://schemas.openxmlformats.org/officeDocument/2006/relationships/hyperlink" Target="https://www.techtarget.com/whatis/definition/transistor-to-transistor-logic-TT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ources.pcb.cadence.com/blog/2023-lvds-signals-crashcourse" TargetMode="External"/><Relationship Id="rId5" Type="http://schemas.openxmlformats.org/officeDocument/2006/relationships/hyperlink" Target="https://www.ti.com/lit/an/snla165/snla165.pdf?ts=1753844644513" TargetMode="External"/><Relationship Id="rId10" Type="http://schemas.openxmlformats.org/officeDocument/2006/relationships/hyperlink" Target="https://ww1.microchip.com/downloads/aemDocuments/documents/VOP/ApplicationNotes/ApplicationNotes/Signal+Types+and+Terminations.pdf" TargetMode="External"/><Relationship Id="rId4" Type="http://schemas.openxmlformats.org/officeDocument/2006/relationships/hyperlink" Target="https://www.allaboutcircuits.com/textbook/digital/chpt-3/logic-signal-voltage-levels" TargetMode="External"/><Relationship Id="rId9" Type="http://schemas.openxmlformats.org/officeDocument/2006/relationships/hyperlink" Target="https://www.rfwireless-world.com/terminology/ecl-vs-pecl-vs-lvpec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28F391-03AD-4629-B951-6AA1ED89157F}"/>
              </a:ext>
            </a:extLst>
          </p:cNvPr>
          <p:cNvSpPr/>
          <p:nvPr/>
        </p:nvSpPr>
        <p:spPr>
          <a:xfrm>
            <a:off x="2094615" y="1512749"/>
            <a:ext cx="800276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Digital</a:t>
            </a:r>
            <a:r>
              <a:rPr lang="tr-T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I/O </a:t>
            </a:r>
            <a:r>
              <a:rPr lang="tr-TR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Voltage</a:t>
            </a:r>
            <a:r>
              <a:rPr lang="tr-T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Level </a:t>
            </a:r>
          </a:p>
          <a:p>
            <a:pPr algn="ctr"/>
            <a:r>
              <a:rPr lang="tr-TR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Standards</a:t>
            </a:r>
            <a:endParaRPr lang="tr-TR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8A137-2A7A-4EC3-A18D-BACE836706AF}"/>
              </a:ext>
            </a:extLst>
          </p:cNvPr>
          <p:cNvSpPr/>
          <p:nvPr/>
        </p:nvSpPr>
        <p:spPr>
          <a:xfrm>
            <a:off x="4348566" y="4591949"/>
            <a:ext cx="349486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Hamza Solmaz</a:t>
            </a:r>
          </a:p>
          <a:p>
            <a:pPr algn="ctr"/>
            <a:r>
              <a:rPr lang="tr-T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</a:t>
            </a:r>
            <a:r>
              <a:rPr lang="tr-TR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.08.2025</a:t>
            </a:r>
          </a:p>
          <a:p>
            <a:pPr algn="ctr"/>
            <a:r>
              <a:rPr lang="tr-T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MEOS ETM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167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BEBC05-2663-4453-B9D5-4F68F54E8251}"/>
              </a:ext>
            </a:extLst>
          </p:cNvPr>
          <p:cNvSpPr/>
          <p:nvPr/>
        </p:nvSpPr>
        <p:spPr>
          <a:xfrm>
            <a:off x="626005" y="306901"/>
            <a:ext cx="83904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</a:t>
            </a:r>
            <a:r>
              <a:rPr lang="tr-T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</a:t>
            </a:r>
            <a:r>
              <a:rPr lang="tr-T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ideal </a:t>
            </a:r>
            <a:r>
              <a:rPr lang="tr-TR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conditions</a:t>
            </a:r>
            <a:r>
              <a:rPr lang="tr-T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D78A71-BC73-4255-801E-2420451D922D}"/>
              </a:ext>
            </a:extLst>
          </p:cNvPr>
          <p:cNvSpPr/>
          <p:nvPr/>
        </p:nvSpPr>
        <p:spPr>
          <a:xfrm>
            <a:off x="1270265" y="1530158"/>
            <a:ext cx="6622520" cy="819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err="1"/>
              <a:t>Reliability</a:t>
            </a:r>
            <a:endParaRPr lang="tr-TR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04EBC1-6D49-4C92-AE52-CCA806679FBD}"/>
              </a:ext>
            </a:extLst>
          </p:cNvPr>
          <p:cNvSpPr/>
          <p:nvPr/>
        </p:nvSpPr>
        <p:spPr>
          <a:xfrm>
            <a:off x="1270265" y="3631054"/>
            <a:ext cx="6622520" cy="819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err="1"/>
              <a:t>Low</a:t>
            </a:r>
            <a:r>
              <a:rPr lang="tr-TR" sz="2800" dirty="0"/>
              <a:t> </a:t>
            </a:r>
            <a:r>
              <a:rPr lang="tr-TR" sz="2800" dirty="0" err="1"/>
              <a:t>cost</a:t>
            </a:r>
            <a:endParaRPr lang="tr-TR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6BAA62-4B8F-4934-9BA6-D692AAA5D590}"/>
              </a:ext>
            </a:extLst>
          </p:cNvPr>
          <p:cNvSpPr/>
          <p:nvPr/>
        </p:nvSpPr>
        <p:spPr>
          <a:xfrm>
            <a:off x="1270265" y="4681502"/>
            <a:ext cx="6622520" cy="819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err="1"/>
              <a:t>Low</a:t>
            </a:r>
            <a:r>
              <a:rPr lang="tr-TR" sz="2800" dirty="0"/>
              <a:t> </a:t>
            </a:r>
            <a:r>
              <a:rPr lang="tr-TR" sz="2800" dirty="0" err="1"/>
              <a:t>power</a:t>
            </a:r>
            <a:r>
              <a:rPr lang="tr-TR" sz="2800" dirty="0"/>
              <a:t> </a:t>
            </a:r>
            <a:r>
              <a:rPr lang="tr-TR" sz="2800" dirty="0" err="1"/>
              <a:t>consumption</a:t>
            </a:r>
            <a:endParaRPr lang="tr-TR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D59CC5-0284-4377-8F9A-BE1303A67F5C}"/>
              </a:ext>
            </a:extLst>
          </p:cNvPr>
          <p:cNvSpPr/>
          <p:nvPr/>
        </p:nvSpPr>
        <p:spPr>
          <a:xfrm>
            <a:off x="1270265" y="5731949"/>
            <a:ext cx="6622520" cy="819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/>
              <a:t>High </a:t>
            </a:r>
            <a:r>
              <a:rPr lang="tr-TR" sz="2800" dirty="0" err="1"/>
              <a:t>speed</a:t>
            </a:r>
            <a:endParaRPr lang="tr-TR" sz="2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7C9193-8D0D-45C4-A3F2-3F2EBD6E4AF2}"/>
              </a:ext>
            </a:extLst>
          </p:cNvPr>
          <p:cNvSpPr/>
          <p:nvPr/>
        </p:nvSpPr>
        <p:spPr>
          <a:xfrm>
            <a:off x="1270265" y="2580606"/>
            <a:ext cx="6622520" cy="819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err="1"/>
              <a:t>Supply</a:t>
            </a:r>
            <a:r>
              <a:rPr lang="tr-TR" sz="2800" dirty="0"/>
              <a:t> </a:t>
            </a:r>
            <a:r>
              <a:rPr lang="tr-TR" sz="2800" dirty="0" err="1"/>
              <a:t>voltage</a:t>
            </a:r>
            <a:r>
              <a:rPr lang="tr-TR" sz="2800" dirty="0"/>
              <a:t> </a:t>
            </a:r>
            <a:r>
              <a:rPr lang="tr-TR" sz="2800" dirty="0" err="1"/>
              <a:t>range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3500094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5730B2-791A-4373-B196-7EB11A989128}"/>
              </a:ext>
            </a:extLst>
          </p:cNvPr>
          <p:cNvSpPr txBox="1"/>
          <p:nvPr/>
        </p:nvSpPr>
        <p:spPr>
          <a:xfrm>
            <a:off x="3114187" y="1624242"/>
            <a:ext cx="29392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/>
              <a:t>TTL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/>
              <a:t>CMOS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/>
              <a:t>LVDS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/>
              <a:t>LVPECL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 err="1"/>
              <a:t>Others</a:t>
            </a:r>
            <a:endParaRPr lang="tr-TR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 err="1"/>
              <a:t>Comparison</a:t>
            </a:r>
            <a:endParaRPr lang="tr-TR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tr-TR" sz="3200" dirty="0" err="1"/>
              <a:t>Conclusion</a:t>
            </a:r>
            <a:endParaRPr lang="tr-TR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tr-TR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31BD0-67CA-40A8-B306-790C2B359234}"/>
              </a:ext>
            </a:extLst>
          </p:cNvPr>
          <p:cNvSpPr/>
          <p:nvPr/>
        </p:nvSpPr>
        <p:spPr>
          <a:xfrm>
            <a:off x="2965909" y="164255"/>
            <a:ext cx="315503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66242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B3B01A-B46A-4666-A44C-416552210B33}"/>
              </a:ext>
            </a:extLst>
          </p:cNvPr>
          <p:cNvSpPr/>
          <p:nvPr/>
        </p:nvSpPr>
        <p:spPr>
          <a:xfrm>
            <a:off x="5514815" y="189895"/>
            <a:ext cx="11623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TTL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213EF-4F1F-4FDC-978D-5F08ED9B3FDB}"/>
              </a:ext>
            </a:extLst>
          </p:cNvPr>
          <p:cNvSpPr txBox="1"/>
          <p:nvPr/>
        </p:nvSpPr>
        <p:spPr>
          <a:xfrm>
            <a:off x="1233996" y="1113225"/>
            <a:ext cx="4030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Operates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10 </a:t>
            </a:r>
            <a:r>
              <a:rPr lang="tr-TR" dirty="0" err="1"/>
              <a:t>ns</a:t>
            </a:r>
            <a:r>
              <a:rPr lang="tr-TR" dirty="0"/>
              <a:t> </a:t>
            </a:r>
            <a:r>
              <a:rPr lang="tr-TR" dirty="0" err="1"/>
              <a:t>propagation</a:t>
            </a:r>
            <a:r>
              <a:rPr lang="tr-TR" dirty="0"/>
              <a:t> </a:t>
            </a:r>
            <a:r>
              <a:rPr lang="tr-TR" dirty="0" err="1"/>
              <a:t>delay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10 </a:t>
            </a:r>
            <a:r>
              <a:rPr lang="tr-TR" dirty="0" err="1"/>
              <a:t>mW</a:t>
            </a:r>
            <a:r>
              <a:rPr lang="tr-TR" dirty="0"/>
              <a:t> </a:t>
            </a:r>
            <a:r>
              <a:rPr lang="tr-TR" dirty="0" err="1"/>
              <a:t>steady</a:t>
            </a:r>
            <a:r>
              <a:rPr lang="tr-TR" dirty="0"/>
              <a:t> </a:t>
            </a:r>
            <a:r>
              <a:rPr lang="tr-TR" dirty="0" err="1"/>
              <a:t>power</a:t>
            </a:r>
            <a:r>
              <a:rPr lang="tr-TR" dirty="0"/>
              <a:t> </a:t>
            </a:r>
            <a:r>
              <a:rPr lang="tr-TR" dirty="0" err="1"/>
              <a:t>consumption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Up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10 </a:t>
            </a:r>
            <a:r>
              <a:rPr lang="tr-TR" dirty="0" err="1"/>
              <a:t>Mbps</a:t>
            </a:r>
            <a:endParaRPr lang="tr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A5246-02EB-49E3-AEFE-1361D29EB43C}"/>
              </a:ext>
            </a:extLst>
          </p:cNvPr>
          <p:cNvSpPr txBox="1"/>
          <p:nvPr/>
        </p:nvSpPr>
        <p:spPr>
          <a:xfrm>
            <a:off x="1233996" y="3666286"/>
            <a:ext cx="544318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/>
              <a:t>Sub-types</a:t>
            </a:r>
            <a:endParaRPr lang="tr-T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Low-power</a:t>
            </a:r>
            <a:r>
              <a:rPr lang="tr-TR" dirty="0"/>
              <a:t> TTL 			(33ns, 1mW)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High </a:t>
            </a:r>
            <a:r>
              <a:rPr lang="tr-TR" dirty="0" err="1"/>
              <a:t>Speed</a:t>
            </a:r>
            <a:r>
              <a:rPr lang="tr-TR" dirty="0"/>
              <a:t> TTL 			(6ns, 22 </a:t>
            </a:r>
            <a:r>
              <a:rPr lang="tr-TR" dirty="0" err="1"/>
              <a:t>mW</a:t>
            </a:r>
            <a:r>
              <a:rPr lang="tr-T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Schottky</a:t>
            </a:r>
            <a:r>
              <a:rPr lang="tr-TR" dirty="0"/>
              <a:t> TTL 				(3ns, 19mW)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Low-power</a:t>
            </a:r>
            <a:r>
              <a:rPr lang="tr-TR" dirty="0"/>
              <a:t> </a:t>
            </a:r>
            <a:r>
              <a:rPr lang="tr-TR" dirty="0" err="1"/>
              <a:t>Schottky</a:t>
            </a:r>
            <a:r>
              <a:rPr lang="tr-TR" dirty="0"/>
              <a:t> TTL 	(9.5ns, 2mW)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EB9C5-7699-4F87-BA8D-2F83CCF36BA7}"/>
              </a:ext>
            </a:extLst>
          </p:cNvPr>
          <p:cNvSpPr txBox="1"/>
          <p:nvPr/>
        </p:nvSpPr>
        <p:spPr>
          <a:xfrm>
            <a:off x="1233996" y="2714596"/>
            <a:ext cx="2254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/>
              <a:t>Applications</a:t>
            </a:r>
          </a:p>
          <a:p>
            <a:r>
              <a:rPr lang="tr-TR" dirty="0"/>
              <a:t>UART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ABB8CB-E4A5-4FC6-B726-464636B171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7"/>
          <a:stretch/>
        </p:blipFill>
        <p:spPr>
          <a:xfrm>
            <a:off x="7464425" y="1713389"/>
            <a:ext cx="1352550" cy="44125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427F2B-550F-44EF-8C77-28C14265C38E}"/>
              </a:ext>
            </a:extLst>
          </p:cNvPr>
          <p:cNvSpPr txBox="1"/>
          <p:nvPr/>
        </p:nvSpPr>
        <p:spPr>
          <a:xfrm>
            <a:off x="7464425" y="1113225"/>
            <a:ext cx="147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i="1" dirty="0" err="1"/>
              <a:t>Figure</a:t>
            </a:r>
            <a:r>
              <a:rPr lang="tr-TR" sz="1400" i="1" dirty="0"/>
              <a:t> 1 I/O </a:t>
            </a:r>
            <a:r>
              <a:rPr lang="tr-TR" sz="1400" i="1" dirty="0" err="1"/>
              <a:t>Voltage</a:t>
            </a:r>
            <a:r>
              <a:rPr lang="tr-TR" sz="1400" i="1" dirty="0"/>
              <a:t> </a:t>
            </a:r>
            <a:r>
              <a:rPr lang="tr-TR" sz="1400" i="1" dirty="0" err="1"/>
              <a:t>Levels</a:t>
            </a:r>
            <a:r>
              <a:rPr lang="tr-TR" sz="1400" i="1" dirty="0"/>
              <a:t> of TTL</a:t>
            </a:r>
          </a:p>
        </p:txBody>
      </p:sp>
    </p:spTree>
    <p:extLst>
      <p:ext uri="{BB962C8B-B14F-4D97-AF65-F5344CB8AC3E}">
        <p14:creationId xmlns:p14="http://schemas.microsoft.com/office/powerpoint/2010/main" val="154044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15B555-3BAF-4775-AD07-F07409173664}"/>
              </a:ext>
            </a:extLst>
          </p:cNvPr>
          <p:cNvSpPr/>
          <p:nvPr/>
        </p:nvSpPr>
        <p:spPr>
          <a:xfrm>
            <a:off x="5135640" y="100853"/>
            <a:ext cx="19207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DF255-C5B0-444E-95E1-9AA47027774C}"/>
              </a:ext>
            </a:extLst>
          </p:cNvPr>
          <p:cNvSpPr txBox="1"/>
          <p:nvPr/>
        </p:nvSpPr>
        <p:spPr>
          <a:xfrm>
            <a:off x="662968" y="1657728"/>
            <a:ext cx="4944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Supply</a:t>
            </a:r>
            <a:r>
              <a:rPr lang="tr-TR" dirty="0"/>
              <a:t>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</a:t>
            </a:r>
            <a:r>
              <a:rPr lang="tr-TR" dirty="0" err="1"/>
              <a:t>vary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1.8V-15V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Noise</a:t>
            </a:r>
            <a:r>
              <a:rPr lang="tr-TR" dirty="0"/>
              <a:t> </a:t>
            </a:r>
            <a:r>
              <a:rPr lang="tr-TR" dirty="0" err="1"/>
              <a:t>margin</a:t>
            </a:r>
            <a:r>
              <a:rPr lang="tr-TR" dirty="0"/>
              <a:t> is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TTL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Speed</a:t>
            </a:r>
            <a:r>
              <a:rPr lang="tr-TR" dirty="0"/>
              <a:t> is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TTL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Frequency</a:t>
            </a:r>
            <a:r>
              <a:rPr lang="tr-TR" dirty="0"/>
              <a:t> </a:t>
            </a:r>
            <a:r>
              <a:rPr lang="tr-TR" dirty="0" err="1"/>
              <a:t>dependent</a:t>
            </a:r>
            <a:r>
              <a:rPr lang="tr-TR" dirty="0"/>
              <a:t> </a:t>
            </a:r>
            <a:r>
              <a:rPr lang="tr-TR" dirty="0" err="1"/>
              <a:t>power</a:t>
            </a:r>
            <a:r>
              <a:rPr lang="tr-TR" dirty="0"/>
              <a:t> </a:t>
            </a:r>
            <a:r>
              <a:rPr lang="tr-TR" dirty="0" err="1"/>
              <a:t>consumption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A0D8-3F12-408F-B7A0-F95FCE3684A6}"/>
              </a:ext>
            </a:extLst>
          </p:cNvPr>
          <p:cNvSpPr txBox="1"/>
          <p:nvPr/>
        </p:nvSpPr>
        <p:spPr>
          <a:xfrm>
            <a:off x="7747427" y="1657729"/>
            <a:ext cx="21661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/>
              <a:t>Subtypes</a:t>
            </a:r>
            <a:endParaRPr lang="tr-TR" u="sng" dirty="0"/>
          </a:p>
          <a:p>
            <a:r>
              <a:rPr lang="tr-TR" dirty="0"/>
              <a:t>LVCMOS</a:t>
            </a:r>
          </a:p>
          <a:p>
            <a:r>
              <a:rPr lang="tr-TR" dirty="0"/>
              <a:t>Advanced CMOS</a:t>
            </a:r>
          </a:p>
          <a:p>
            <a:r>
              <a:rPr lang="tr-TR" dirty="0" err="1"/>
              <a:t>Bipolar</a:t>
            </a:r>
            <a:r>
              <a:rPr lang="tr-TR" dirty="0"/>
              <a:t> CMOS</a:t>
            </a:r>
          </a:p>
          <a:p>
            <a:r>
              <a:rPr lang="tr-TR" dirty="0"/>
              <a:t>HCMOS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B357B-310A-42FB-9063-988AC7A15A09}"/>
              </a:ext>
            </a:extLst>
          </p:cNvPr>
          <p:cNvSpPr txBox="1"/>
          <p:nvPr/>
        </p:nvSpPr>
        <p:spPr>
          <a:xfrm>
            <a:off x="5906701" y="1657729"/>
            <a:ext cx="154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/>
              <a:t>Applications</a:t>
            </a:r>
          </a:p>
          <a:p>
            <a:r>
              <a:rPr lang="tr-TR" dirty="0"/>
              <a:t>I2C</a:t>
            </a:r>
          </a:p>
          <a:p>
            <a:r>
              <a:rPr lang="tr-TR" dirty="0"/>
              <a:t>SPI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03B343-07A0-453B-9826-2EE38760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30" y="3491604"/>
            <a:ext cx="5600700" cy="2438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5481C1-2E03-4627-933D-85687B2F8B88}"/>
              </a:ext>
            </a:extLst>
          </p:cNvPr>
          <p:cNvSpPr txBox="1"/>
          <p:nvPr/>
        </p:nvSpPr>
        <p:spPr>
          <a:xfrm>
            <a:off x="5316335" y="5930004"/>
            <a:ext cx="3480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i="1" dirty="0"/>
              <a:t>(</a:t>
            </a:r>
            <a:r>
              <a:rPr lang="tr-TR" sz="1400" i="1" dirty="0" err="1"/>
              <a:t>All</a:t>
            </a:r>
            <a:r>
              <a:rPr lang="tr-TR" sz="1400" i="1" dirty="0"/>
              <a:t> </a:t>
            </a:r>
            <a:r>
              <a:rPr lang="tr-TR" sz="1400" i="1" dirty="0" err="1"/>
              <a:t>about</a:t>
            </a:r>
            <a:r>
              <a:rPr lang="tr-TR" sz="1400" i="1" dirty="0"/>
              <a:t> </a:t>
            </a:r>
            <a:r>
              <a:rPr lang="tr-TR" sz="1400" i="1" dirty="0" err="1"/>
              <a:t>circuits</a:t>
            </a:r>
            <a:r>
              <a:rPr lang="tr-TR" sz="1400" i="1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5BB58-714A-4FAD-ADE4-C33B183E5AAF}"/>
              </a:ext>
            </a:extLst>
          </p:cNvPr>
          <p:cNvSpPr txBox="1"/>
          <p:nvPr/>
        </p:nvSpPr>
        <p:spPr>
          <a:xfrm>
            <a:off x="1422399" y="3135057"/>
            <a:ext cx="3994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i="1" dirty="0" err="1"/>
              <a:t>Figure</a:t>
            </a:r>
            <a:r>
              <a:rPr lang="tr-TR" sz="1400" i="1" dirty="0"/>
              <a:t> 2: </a:t>
            </a:r>
            <a:r>
              <a:rPr lang="tr-TR" sz="1400" i="1" dirty="0" err="1"/>
              <a:t>Voltage</a:t>
            </a:r>
            <a:r>
              <a:rPr lang="tr-TR" sz="1400" i="1" dirty="0"/>
              <a:t> </a:t>
            </a:r>
            <a:r>
              <a:rPr lang="tr-TR" sz="1400" i="1" dirty="0" err="1"/>
              <a:t>levels</a:t>
            </a:r>
            <a:r>
              <a:rPr lang="tr-TR" sz="1400" i="1" dirty="0"/>
              <a:t> of CMOS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3369404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1BB82E-C50A-4F31-AE8A-1A57396CE1F2}"/>
              </a:ext>
            </a:extLst>
          </p:cNvPr>
          <p:cNvSpPr/>
          <p:nvPr/>
        </p:nvSpPr>
        <p:spPr>
          <a:xfrm>
            <a:off x="5314376" y="126296"/>
            <a:ext cx="15632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LVDS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627AD-4ACA-4F0D-B1C0-8D9DFF6933EF}"/>
              </a:ext>
            </a:extLst>
          </p:cNvPr>
          <p:cNvSpPr txBox="1"/>
          <p:nvPr/>
        </p:nvSpPr>
        <p:spPr>
          <a:xfrm>
            <a:off x="1470734" y="1491449"/>
            <a:ext cx="46252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Differential</a:t>
            </a:r>
            <a:r>
              <a:rPr lang="tr-TR" dirty="0"/>
              <a:t> data </a:t>
            </a:r>
            <a:r>
              <a:rPr lang="tr-TR" dirty="0" err="1"/>
              <a:t>transmission</a:t>
            </a:r>
            <a:endParaRPr lang="tr-TR" dirty="0"/>
          </a:p>
          <a:p>
            <a:r>
              <a:rPr lang="tr-TR" dirty="0"/>
              <a:t>2.4V-3.3V </a:t>
            </a:r>
            <a:r>
              <a:rPr lang="tr-TR" dirty="0" err="1"/>
              <a:t>supply</a:t>
            </a:r>
            <a:r>
              <a:rPr lang="tr-TR" dirty="0"/>
              <a:t> </a:t>
            </a:r>
            <a:r>
              <a:rPr lang="tr-TR" dirty="0" err="1"/>
              <a:t>voltage</a:t>
            </a:r>
            <a:endParaRPr lang="tr-TR" dirty="0"/>
          </a:p>
          <a:p>
            <a:r>
              <a:rPr lang="tr-TR" dirty="0"/>
              <a:t>1.2V 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 </a:t>
            </a:r>
            <a:r>
              <a:rPr lang="tr-TR" dirty="0" err="1"/>
              <a:t>voltage</a:t>
            </a:r>
            <a:endParaRPr lang="tr-TR" dirty="0"/>
          </a:p>
          <a:p>
            <a:r>
              <a:rPr lang="tr-TR" dirty="0"/>
              <a:t>0.4V </a:t>
            </a:r>
            <a:r>
              <a:rPr lang="tr-TR" dirty="0" err="1"/>
              <a:t>swing</a:t>
            </a:r>
            <a:endParaRPr lang="tr-TR" dirty="0"/>
          </a:p>
          <a:p>
            <a:r>
              <a:rPr lang="tr-TR" dirty="0" err="1"/>
              <a:t>Consumes</a:t>
            </a:r>
            <a:r>
              <a:rPr lang="tr-TR" dirty="0"/>
              <a:t> </a:t>
            </a:r>
            <a:r>
              <a:rPr lang="tr-TR" dirty="0" err="1"/>
              <a:t>constant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(3.5mA)</a:t>
            </a:r>
          </a:p>
          <a:p>
            <a:r>
              <a:rPr lang="tr-TR" dirty="0" err="1"/>
              <a:t>Lower</a:t>
            </a:r>
            <a:r>
              <a:rPr lang="tr-TR" dirty="0"/>
              <a:t> EMI </a:t>
            </a:r>
            <a:r>
              <a:rPr lang="tr-TR" dirty="0" err="1"/>
              <a:t>effect</a:t>
            </a:r>
            <a:endParaRPr lang="tr-TR" dirty="0"/>
          </a:p>
          <a:p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power</a:t>
            </a:r>
            <a:r>
              <a:rPr lang="tr-TR" dirty="0"/>
              <a:t> </a:t>
            </a:r>
            <a:r>
              <a:rPr lang="tr-TR" dirty="0" err="1"/>
              <a:t>consumption</a:t>
            </a:r>
            <a:r>
              <a:rPr lang="tr-TR" dirty="0"/>
              <a:t> (8.75mW)</a:t>
            </a:r>
          </a:p>
          <a:p>
            <a:r>
              <a:rPr lang="tr-TR" dirty="0"/>
              <a:t>Maximum 4Gbps </a:t>
            </a:r>
            <a:r>
              <a:rPr lang="tr-TR" dirty="0" err="1"/>
              <a:t>speed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 </a:t>
            </a:r>
            <a:r>
              <a:rPr lang="tr-TR" dirty="0" err="1"/>
              <a:t>lane</a:t>
            </a: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46A27-F910-4A29-B550-F7E8E5B2F2A6}"/>
              </a:ext>
            </a:extLst>
          </p:cNvPr>
          <p:cNvSpPr txBox="1"/>
          <p:nvPr/>
        </p:nvSpPr>
        <p:spPr>
          <a:xfrm>
            <a:off x="6435558" y="2922610"/>
            <a:ext cx="34800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/>
              <a:t>Sub-Types</a:t>
            </a:r>
            <a:endParaRPr lang="tr-TR" u="sng" dirty="0"/>
          </a:p>
          <a:p>
            <a:r>
              <a:rPr lang="tr-TR" dirty="0" err="1"/>
              <a:t>Bus</a:t>
            </a:r>
            <a:r>
              <a:rPr lang="tr-TR" dirty="0"/>
              <a:t> LVDS (</a:t>
            </a:r>
            <a:r>
              <a:rPr lang="tr-TR" dirty="0" err="1"/>
              <a:t>Multiple</a:t>
            </a:r>
            <a:r>
              <a:rPr lang="tr-TR" dirty="0"/>
              <a:t> </a:t>
            </a:r>
            <a:r>
              <a:rPr lang="tr-TR" dirty="0" err="1"/>
              <a:t>reciever</a:t>
            </a:r>
            <a:r>
              <a:rPr lang="tr-TR" dirty="0"/>
              <a:t>)</a:t>
            </a:r>
          </a:p>
          <a:p>
            <a:r>
              <a:rPr lang="tr-TR" dirty="0"/>
              <a:t>SLVS (800 </a:t>
            </a:r>
            <a:r>
              <a:rPr lang="tr-TR" dirty="0" err="1"/>
              <a:t>mV</a:t>
            </a:r>
            <a:r>
              <a:rPr lang="tr-TR" dirty="0"/>
              <a:t> </a:t>
            </a:r>
            <a:r>
              <a:rPr lang="tr-TR" dirty="0" err="1"/>
              <a:t>supply</a:t>
            </a:r>
            <a:r>
              <a:rPr lang="tr-TR" dirty="0"/>
              <a:t>)</a:t>
            </a:r>
          </a:p>
          <a:p>
            <a:r>
              <a:rPr lang="tr-TR" dirty="0"/>
              <a:t>Mini-LVDS</a:t>
            </a:r>
          </a:p>
          <a:p>
            <a:endParaRPr lang="tr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87B8E-8610-4605-A0C8-034C81004C46}"/>
              </a:ext>
            </a:extLst>
          </p:cNvPr>
          <p:cNvSpPr txBox="1"/>
          <p:nvPr/>
        </p:nvSpPr>
        <p:spPr>
          <a:xfrm>
            <a:off x="6435558" y="1491449"/>
            <a:ext cx="3803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/>
              <a:t>Applications</a:t>
            </a:r>
          </a:p>
          <a:p>
            <a:r>
              <a:rPr lang="tr-TR" dirty="0" err="1"/>
              <a:t>Flat</a:t>
            </a:r>
            <a:r>
              <a:rPr lang="tr-TR" dirty="0"/>
              <a:t> Panel </a:t>
            </a:r>
            <a:r>
              <a:rPr lang="tr-TR" dirty="0" err="1"/>
              <a:t>Display</a:t>
            </a:r>
            <a:r>
              <a:rPr lang="tr-TR" dirty="0"/>
              <a:t> Link</a:t>
            </a:r>
          </a:p>
          <a:p>
            <a:r>
              <a:rPr lang="tr-TR" dirty="0" err="1"/>
              <a:t>Gigabit</a:t>
            </a:r>
            <a:r>
              <a:rPr lang="tr-TR" dirty="0"/>
              <a:t> Multimedia </a:t>
            </a:r>
            <a:r>
              <a:rPr lang="tr-TR" dirty="0" err="1"/>
              <a:t>Serial</a:t>
            </a:r>
            <a:r>
              <a:rPr lang="tr-TR" dirty="0"/>
              <a:t> Link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B3CE25-5973-4FCC-811A-2A85389E4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36" y="4382786"/>
            <a:ext cx="4265340" cy="1461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E880BB-CCA8-44B9-B7DD-F7072770DD40}"/>
              </a:ext>
            </a:extLst>
          </p:cNvPr>
          <p:cNvSpPr txBox="1"/>
          <p:nvPr/>
        </p:nvSpPr>
        <p:spPr>
          <a:xfrm>
            <a:off x="917575" y="4055959"/>
            <a:ext cx="3857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i="1" dirty="0" err="1"/>
              <a:t>Figure</a:t>
            </a:r>
            <a:r>
              <a:rPr lang="tr-TR" sz="1400" i="1" dirty="0"/>
              <a:t> 3: LVDS </a:t>
            </a:r>
            <a:r>
              <a:rPr lang="tr-TR" sz="1400" i="1" dirty="0" err="1"/>
              <a:t>termination</a:t>
            </a:r>
            <a:r>
              <a:rPr lang="tr-TR" sz="1400" i="1" dirty="0"/>
              <a:t> </a:t>
            </a:r>
            <a:r>
              <a:rPr lang="tr-TR" sz="1400" i="1" dirty="0" err="1"/>
              <a:t>circuit</a:t>
            </a:r>
            <a:r>
              <a:rPr lang="tr-TR" sz="1400" i="1" dirty="0"/>
              <a:t> </a:t>
            </a:r>
            <a:r>
              <a:rPr lang="tr-TR" sz="1400" i="1" dirty="0" err="1"/>
              <a:t>schematic</a:t>
            </a:r>
            <a:r>
              <a:rPr lang="tr-TR" sz="1400" i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2D58B-9683-4F11-8091-AE7309F48840}"/>
              </a:ext>
            </a:extLst>
          </p:cNvPr>
          <p:cNvSpPr txBox="1"/>
          <p:nvPr/>
        </p:nvSpPr>
        <p:spPr>
          <a:xfrm>
            <a:off x="3695700" y="5844735"/>
            <a:ext cx="147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(</a:t>
            </a:r>
            <a:r>
              <a:rPr lang="tr-TR" sz="1400" dirty="0" err="1"/>
              <a:t>Renesas</a:t>
            </a:r>
            <a:r>
              <a:rPr lang="tr-T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176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9D88BA-BA08-4F1C-91AA-32259BA62326}"/>
              </a:ext>
            </a:extLst>
          </p:cNvPr>
          <p:cNvSpPr/>
          <p:nvPr/>
        </p:nvSpPr>
        <p:spPr>
          <a:xfrm>
            <a:off x="5012273" y="206380"/>
            <a:ext cx="21674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LVPECL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11F39-093C-426B-9684-F8FFFB8DDFFA}"/>
              </a:ext>
            </a:extLst>
          </p:cNvPr>
          <p:cNvSpPr txBox="1"/>
          <p:nvPr/>
        </p:nvSpPr>
        <p:spPr>
          <a:xfrm>
            <a:off x="878889" y="1222042"/>
            <a:ext cx="41333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Derived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ECL </a:t>
            </a:r>
            <a:r>
              <a:rPr lang="tr-TR" dirty="0" err="1"/>
              <a:t>and</a:t>
            </a:r>
            <a:r>
              <a:rPr lang="tr-TR" dirty="0"/>
              <a:t> PECL</a:t>
            </a:r>
          </a:p>
          <a:p>
            <a:r>
              <a:rPr lang="tr-TR" dirty="0" err="1"/>
              <a:t>Differential</a:t>
            </a:r>
            <a:r>
              <a:rPr lang="tr-TR" dirty="0"/>
              <a:t> </a:t>
            </a:r>
            <a:r>
              <a:rPr lang="tr-TR" dirty="0" err="1"/>
              <a:t>pair</a:t>
            </a:r>
            <a:endParaRPr lang="tr-TR" dirty="0"/>
          </a:p>
          <a:p>
            <a:r>
              <a:rPr lang="tr-TR" dirty="0"/>
              <a:t>3.3V </a:t>
            </a:r>
            <a:r>
              <a:rPr lang="tr-TR" dirty="0" err="1"/>
              <a:t>supply</a:t>
            </a:r>
            <a:r>
              <a:rPr lang="tr-TR" dirty="0"/>
              <a:t> </a:t>
            </a:r>
            <a:r>
              <a:rPr lang="tr-TR" dirty="0" err="1"/>
              <a:t>voltage</a:t>
            </a:r>
            <a:endParaRPr lang="tr-TR" dirty="0"/>
          </a:p>
          <a:p>
            <a:r>
              <a:rPr lang="tr-TR" dirty="0"/>
              <a:t>Vcc-2V 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 </a:t>
            </a:r>
            <a:r>
              <a:rPr lang="tr-TR" dirty="0" err="1"/>
              <a:t>voltage</a:t>
            </a:r>
            <a:endParaRPr lang="tr-TR" dirty="0"/>
          </a:p>
          <a:p>
            <a:r>
              <a:rPr lang="tr-TR" dirty="0"/>
              <a:t>800mV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swing</a:t>
            </a:r>
            <a:endParaRPr lang="tr-TR" dirty="0"/>
          </a:p>
          <a:p>
            <a:r>
              <a:rPr lang="tr-TR" dirty="0" err="1"/>
              <a:t>Up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10 </a:t>
            </a:r>
            <a:r>
              <a:rPr lang="tr-TR" dirty="0" err="1"/>
              <a:t>Gbps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power</a:t>
            </a:r>
            <a:r>
              <a:rPr lang="tr-TR" dirty="0"/>
              <a:t> </a:t>
            </a:r>
            <a:r>
              <a:rPr lang="tr-TR" dirty="0" err="1"/>
              <a:t>consumption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LVDS</a:t>
            </a:r>
          </a:p>
          <a:p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noise</a:t>
            </a:r>
            <a:r>
              <a:rPr lang="tr-TR" dirty="0"/>
              <a:t> </a:t>
            </a:r>
            <a:r>
              <a:rPr lang="tr-TR" dirty="0" err="1"/>
              <a:t>tolerant</a:t>
            </a:r>
            <a:endParaRPr lang="tr-TR" dirty="0"/>
          </a:p>
          <a:p>
            <a:endParaRPr lang="tr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F96CE-9CEC-47F2-AA99-42BDBF88D31D}"/>
              </a:ext>
            </a:extLst>
          </p:cNvPr>
          <p:cNvSpPr txBox="1"/>
          <p:nvPr/>
        </p:nvSpPr>
        <p:spPr>
          <a:xfrm>
            <a:off x="6178858" y="1222042"/>
            <a:ext cx="3675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/>
              <a:t>Application</a:t>
            </a:r>
          </a:p>
          <a:p>
            <a:r>
              <a:rPr lang="tr-TR" dirty="0" err="1"/>
              <a:t>Gigabit</a:t>
            </a:r>
            <a:r>
              <a:rPr lang="tr-TR" dirty="0"/>
              <a:t> Ethernet</a:t>
            </a:r>
          </a:p>
          <a:p>
            <a:r>
              <a:rPr lang="tr-TR" dirty="0"/>
              <a:t>Fiber Channel</a:t>
            </a:r>
          </a:p>
          <a:p>
            <a:r>
              <a:rPr lang="tr-TR" dirty="0"/>
              <a:t>Optical </a:t>
            </a:r>
            <a:r>
              <a:rPr lang="tr-TR" dirty="0" err="1"/>
              <a:t>Communication</a:t>
            </a:r>
            <a:endParaRPr lang="tr-T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39462D-9353-43F7-9804-88A9C4534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0" y="3643191"/>
            <a:ext cx="3311929" cy="2262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41CF4C-56BC-47BF-9D3D-49CEF8B9CDAE}"/>
              </a:ext>
            </a:extLst>
          </p:cNvPr>
          <p:cNvSpPr txBox="1"/>
          <p:nvPr/>
        </p:nvSpPr>
        <p:spPr>
          <a:xfrm>
            <a:off x="5669564" y="3335414"/>
            <a:ext cx="4413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i="1" dirty="0" err="1"/>
              <a:t>Figure</a:t>
            </a:r>
            <a:r>
              <a:rPr lang="tr-TR" sz="1400" i="1" dirty="0"/>
              <a:t> 4: LVPECL Y-</a:t>
            </a:r>
            <a:r>
              <a:rPr lang="tr-TR" sz="1400" i="1" dirty="0" err="1"/>
              <a:t>termination</a:t>
            </a:r>
            <a:r>
              <a:rPr lang="tr-TR" sz="1400" i="1" dirty="0"/>
              <a:t> </a:t>
            </a:r>
            <a:r>
              <a:rPr lang="tr-TR" sz="1400" i="1" dirty="0" err="1"/>
              <a:t>circuit</a:t>
            </a:r>
            <a:r>
              <a:rPr lang="tr-TR" sz="1400" i="1" dirty="0"/>
              <a:t> </a:t>
            </a:r>
            <a:r>
              <a:rPr lang="tr-TR" sz="1400" i="1" dirty="0" err="1"/>
              <a:t>schematic</a:t>
            </a:r>
            <a:endParaRPr lang="tr-TR" sz="1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0B3F8-49DE-4BCA-A33D-BD4050E68516}"/>
              </a:ext>
            </a:extLst>
          </p:cNvPr>
          <p:cNvSpPr txBox="1"/>
          <p:nvPr/>
        </p:nvSpPr>
        <p:spPr>
          <a:xfrm>
            <a:off x="7607300" y="6007100"/>
            <a:ext cx="143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(</a:t>
            </a:r>
            <a:r>
              <a:rPr lang="tr-TR" sz="1400" dirty="0" err="1"/>
              <a:t>Renesas</a:t>
            </a:r>
            <a:r>
              <a:rPr lang="tr-T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733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AA6644-9D73-48C9-9C76-46E47215E070}"/>
              </a:ext>
            </a:extLst>
          </p:cNvPr>
          <p:cNvSpPr/>
          <p:nvPr/>
        </p:nvSpPr>
        <p:spPr>
          <a:xfrm>
            <a:off x="4980149" y="139784"/>
            <a:ext cx="2231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Others</a:t>
            </a:r>
            <a:endParaRPr lang="tr-TR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2CF7A-FF8E-4554-86C1-0431F1E5531E}"/>
              </a:ext>
            </a:extLst>
          </p:cNvPr>
          <p:cNvSpPr txBox="1"/>
          <p:nvPr/>
        </p:nvSpPr>
        <p:spPr>
          <a:xfrm>
            <a:off x="1156811" y="1250759"/>
            <a:ext cx="46962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u="sng" dirty="0"/>
              <a:t>HCSL</a:t>
            </a:r>
            <a:endParaRPr lang="tr-TR" b="1" u="sng" dirty="0"/>
          </a:p>
          <a:p>
            <a:r>
              <a:rPr lang="tr-TR" dirty="0" err="1"/>
              <a:t>PCIe</a:t>
            </a:r>
            <a:r>
              <a:rPr lang="tr-TR" dirty="0"/>
              <a:t>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clock</a:t>
            </a:r>
            <a:endParaRPr lang="tr-TR" dirty="0"/>
          </a:p>
          <a:p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phase</a:t>
            </a:r>
            <a:r>
              <a:rPr lang="tr-TR" dirty="0"/>
              <a:t> </a:t>
            </a:r>
            <a:r>
              <a:rPr lang="tr-TR" dirty="0" err="1"/>
              <a:t>jitter</a:t>
            </a:r>
            <a:endParaRPr lang="tr-TR" dirty="0"/>
          </a:p>
          <a:p>
            <a:r>
              <a:rPr lang="tr-TR" dirty="0"/>
              <a:t>100 MHz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74ED4-99B5-40F7-8E06-9EE90CC7F4F2}"/>
              </a:ext>
            </a:extLst>
          </p:cNvPr>
          <p:cNvSpPr/>
          <p:nvPr/>
        </p:nvSpPr>
        <p:spPr>
          <a:xfrm>
            <a:off x="5853098" y="1250759"/>
            <a:ext cx="374761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u="sng" dirty="0"/>
              <a:t>SSTL</a:t>
            </a:r>
          </a:p>
          <a:p>
            <a:r>
              <a:rPr lang="tr-TR" dirty="0" err="1"/>
              <a:t>Uses</a:t>
            </a:r>
            <a:r>
              <a:rPr lang="tr-TR" dirty="0"/>
              <a:t> a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voltage</a:t>
            </a:r>
            <a:r>
              <a:rPr lang="tr-TR" dirty="0"/>
              <a:t> (VDD/2)</a:t>
            </a:r>
          </a:p>
          <a:p>
            <a:r>
              <a:rPr lang="tr-TR" dirty="0" err="1"/>
              <a:t>Swing</a:t>
            </a:r>
            <a:r>
              <a:rPr lang="tr-TR" dirty="0"/>
              <a:t> </a:t>
            </a:r>
            <a:r>
              <a:rPr lang="tr-TR" dirty="0" err="1"/>
              <a:t>around</a:t>
            </a:r>
            <a:r>
              <a:rPr lang="tr-TR" dirty="0"/>
              <a:t> </a:t>
            </a:r>
            <a:r>
              <a:rPr lang="tr-TR" dirty="0" err="1"/>
              <a:t>Vref</a:t>
            </a:r>
            <a:endParaRPr lang="tr-TR" dirty="0"/>
          </a:p>
          <a:p>
            <a:r>
              <a:rPr lang="tr-TR" dirty="0"/>
              <a:t>DDR SDRAM</a:t>
            </a:r>
          </a:p>
          <a:p>
            <a:endParaRPr lang="tr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2BB8E-2A33-497B-99EC-5D38BB6E3202}"/>
              </a:ext>
            </a:extLst>
          </p:cNvPr>
          <p:cNvSpPr txBox="1"/>
          <p:nvPr/>
        </p:nvSpPr>
        <p:spPr>
          <a:xfrm>
            <a:off x="3183970" y="3429000"/>
            <a:ext cx="305490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u="sng" dirty="0"/>
              <a:t>HSTL</a:t>
            </a:r>
          </a:p>
          <a:p>
            <a:r>
              <a:rPr lang="tr-TR" dirty="0" err="1"/>
              <a:t>Signaling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ICs</a:t>
            </a:r>
            <a:endParaRPr lang="tr-TR" dirty="0"/>
          </a:p>
          <a:p>
            <a:r>
              <a:rPr lang="tr-TR" dirty="0"/>
              <a:t>0V-1.5V </a:t>
            </a:r>
            <a:r>
              <a:rPr lang="tr-TR" dirty="0" err="1"/>
              <a:t>signaling</a:t>
            </a:r>
            <a:r>
              <a:rPr lang="tr-TR" dirty="0"/>
              <a:t> </a:t>
            </a:r>
            <a:r>
              <a:rPr lang="tr-TR" dirty="0" err="1"/>
              <a:t>range</a:t>
            </a:r>
            <a:endParaRPr lang="tr-TR" dirty="0"/>
          </a:p>
          <a:p>
            <a:r>
              <a:rPr lang="tr-TR" dirty="0" err="1"/>
              <a:t>Single-ended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differential</a:t>
            </a:r>
            <a:endParaRPr lang="tr-TR" dirty="0"/>
          </a:p>
          <a:p>
            <a:r>
              <a:rPr lang="tr-TR" dirty="0"/>
              <a:t>Beyond 180 MHz</a:t>
            </a:r>
          </a:p>
        </p:txBody>
      </p:sp>
    </p:spTree>
    <p:extLst>
      <p:ext uri="{BB962C8B-B14F-4D97-AF65-F5344CB8AC3E}">
        <p14:creationId xmlns:p14="http://schemas.microsoft.com/office/powerpoint/2010/main" val="305161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2CBCEF-27BE-469D-A120-B2C7977B13D6}"/>
              </a:ext>
            </a:extLst>
          </p:cNvPr>
          <p:cNvSpPr/>
          <p:nvPr/>
        </p:nvSpPr>
        <p:spPr>
          <a:xfrm>
            <a:off x="4056530" y="127590"/>
            <a:ext cx="40789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COMPARISON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699DA7-609E-4923-B26E-7491F44EA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740076"/>
              </p:ext>
            </p:extLst>
          </p:nvPr>
        </p:nvGraphicFramePr>
        <p:xfrm>
          <a:off x="377228" y="1739157"/>
          <a:ext cx="8968157" cy="36540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4693">
                  <a:extLst>
                    <a:ext uri="{9D8B030D-6E8A-4147-A177-3AD203B41FA5}">
                      <a16:colId xmlns:a16="http://schemas.microsoft.com/office/drawing/2014/main" val="2233056738"/>
                    </a:ext>
                  </a:extLst>
                </a:gridCol>
                <a:gridCol w="1494693">
                  <a:extLst>
                    <a:ext uri="{9D8B030D-6E8A-4147-A177-3AD203B41FA5}">
                      <a16:colId xmlns:a16="http://schemas.microsoft.com/office/drawing/2014/main" val="451421075"/>
                    </a:ext>
                  </a:extLst>
                </a:gridCol>
                <a:gridCol w="1382939">
                  <a:extLst>
                    <a:ext uri="{9D8B030D-6E8A-4147-A177-3AD203B41FA5}">
                      <a16:colId xmlns:a16="http://schemas.microsoft.com/office/drawing/2014/main" val="1262324523"/>
                    </a:ext>
                  </a:extLst>
                </a:gridCol>
                <a:gridCol w="1841747">
                  <a:extLst>
                    <a:ext uri="{9D8B030D-6E8A-4147-A177-3AD203B41FA5}">
                      <a16:colId xmlns:a16="http://schemas.microsoft.com/office/drawing/2014/main" val="214873551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76694765"/>
                    </a:ext>
                  </a:extLst>
                </a:gridCol>
                <a:gridCol w="1369785">
                  <a:extLst>
                    <a:ext uri="{9D8B030D-6E8A-4147-A177-3AD203B41FA5}">
                      <a16:colId xmlns:a16="http://schemas.microsoft.com/office/drawing/2014/main" val="4099951717"/>
                    </a:ext>
                  </a:extLst>
                </a:gridCol>
              </a:tblGrid>
              <a:tr h="984847">
                <a:tc>
                  <a:txBody>
                    <a:bodyPr/>
                    <a:lstStyle/>
                    <a:p>
                      <a:r>
                        <a:rPr lang="tr-TR" dirty="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Supply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Voltage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Signal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Type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Speed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Power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Consumption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Cost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and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Complexity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88080"/>
                  </a:ext>
                </a:extLst>
              </a:tr>
              <a:tr h="557339">
                <a:tc>
                  <a:txBody>
                    <a:bodyPr/>
                    <a:lstStyle/>
                    <a:p>
                      <a:r>
                        <a:rPr lang="tr-TR" dirty="0"/>
                        <a:t>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Single-ended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&lt;10 </a:t>
                      </a:r>
                      <a:r>
                        <a:rPr lang="tr-TR" dirty="0" err="1"/>
                        <a:t>Mbps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 </a:t>
                      </a:r>
                      <a:r>
                        <a:rPr lang="tr-TR" dirty="0" err="1"/>
                        <a:t>mW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Low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400158"/>
                  </a:ext>
                </a:extLst>
              </a:tr>
              <a:tr h="557339">
                <a:tc>
                  <a:txBody>
                    <a:bodyPr/>
                    <a:lstStyle/>
                    <a:p>
                      <a:r>
                        <a:rPr lang="tr-TR" dirty="0"/>
                        <a:t>CMOS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1.8V-15V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Single-ended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Depend</a:t>
                      </a:r>
                      <a:r>
                        <a:rPr lang="tr-TR" dirty="0"/>
                        <a:t> on MOS </a:t>
                      </a:r>
                      <a:r>
                        <a:rPr lang="tr-TR" dirty="0" err="1"/>
                        <a:t>characteristics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Depend</a:t>
                      </a:r>
                      <a:r>
                        <a:rPr lang="tr-TR" dirty="0"/>
                        <a:t> on </a:t>
                      </a:r>
                      <a:r>
                        <a:rPr lang="tr-TR" dirty="0" err="1"/>
                        <a:t>switching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frequency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Low-medium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351746"/>
                  </a:ext>
                </a:extLst>
              </a:tr>
              <a:tr h="557339">
                <a:tc>
                  <a:txBody>
                    <a:bodyPr/>
                    <a:lstStyle/>
                    <a:p>
                      <a:r>
                        <a:rPr lang="tr-TR" dirty="0"/>
                        <a:t>LVDS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2.4V-3.3V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Differential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&lt; 4 </a:t>
                      </a:r>
                      <a:r>
                        <a:rPr lang="tr-TR" dirty="0" err="1"/>
                        <a:t>Gbps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8.75 </a:t>
                      </a:r>
                      <a:r>
                        <a:rPr lang="tr-TR" dirty="0" err="1"/>
                        <a:t>mW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Medium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33307"/>
                  </a:ext>
                </a:extLst>
              </a:tr>
              <a:tr h="557339">
                <a:tc>
                  <a:txBody>
                    <a:bodyPr/>
                    <a:lstStyle/>
                    <a:p>
                      <a:r>
                        <a:rPr lang="tr-TR" dirty="0"/>
                        <a:t>LVPECL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3.3V </a:t>
                      </a:r>
                      <a:r>
                        <a:rPr lang="tr-TR" dirty="0" err="1"/>
                        <a:t>or</a:t>
                      </a:r>
                      <a:r>
                        <a:rPr lang="tr-TR" dirty="0"/>
                        <a:t> 2.5V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Differential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&lt;10 </a:t>
                      </a:r>
                      <a:r>
                        <a:rPr lang="tr-TR" dirty="0" err="1"/>
                        <a:t>Gbps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50-100 </a:t>
                      </a:r>
                      <a:r>
                        <a:rPr lang="tr-TR" dirty="0" err="1"/>
                        <a:t>mW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62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794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309E64-523F-4928-AD6C-4A197CB698F6}"/>
              </a:ext>
            </a:extLst>
          </p:cNvPr>
          <p:cNvSpPr/>
          <p:nvPr/>
        </p:nvSpPr>
        <p:spPr>
          <a:xfrm>
            <a:off x="1571277" y="145993"/>
            <a:ext cx="775404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tr-TR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 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possible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communicate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tr-TR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different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levels</a:t>
            </a:r>
            <a:r>
              <a:rPr lang="tr-TR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BD9CE-A874-4F46-B19C-4CFF8A505EA5}"/>
              </a:ext>
            </a:extLst>
          </p:cNvPr>
          <p:cNvSpPr txBox="1"/>
          <p:nvPr/>
        </p:nvSpPr>
        <p:spPr>
          <a:xfrm>
            <a:off x="5871411" y="2321004"/>
            <a:ext cx="41228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u="sng" dirty="0" err="1"/>
              <a:t>Converters</a:t>
            </a:r>
            <a:endParaRPr lang="tr-TR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Basic </a:t>
            </a:r>
            <a:r>
              <a:rPr lang="tr-TR" sz="2400" dirty="0" err="1"/>
              <a:t>resistive</a:t>
            </a:r>
            <a:r>
              <a:rPr lang="tr-TR" sz="2400" dirty="0"/>
              <a:t> </a:t>
            </a:r>
            <a:r>
              <a:rPr lang="tr-TR" sz="2400" dirty="0" err="1"/>
              <a:t>voltage</a:t>
            </a:r>
            <a:r>
              <a:rPr lang="tr-TR" sz="2400" dirty="0"/>
              <a:t> </a:t>
            </a:r>
            <a:r>
              <a:rPr lang="tr-TR" sz="2400" dirty="0" err="1"/>
              <a:t>dividers</a:t>
            </a:r>
            <a:endParaRPr lang="tr-T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Level </a:t>
            </a:r>
            <a:r>
              <a:rPr lang="tr-TR" sz="2400" dirty="0" err="1"/>
              <a:t>shifters</a:t>
            </a:r>
            <a:r>
              <a:rPr lang="tr-TR" sz="2400" dirty="0"/>
              <a:t> </a:t>
            </a:r>
            <a:r>
              <a:rPr lang="tr-TR" sz="2400" dirty="0" err="1"/>
              <a:t>or</a:t>
            </a:r>
            <a:r>
              <a:rPr lang="tr-TR" sz="2400" dirty="0"/>
              <a:t> </a:t>
            </a:r>
            <a:r>
              <a:rPr lang="tr-TR" sz="2400" dirty="0" err="1"/>
              <a:t>level</a:t>
            </a:r>
            <a:r>
              <a:rPr lang="tr-TR" sz="2400" dirty="0"/>
              <a:t> </a:t>
            </a:r>
            <a:r>
              <a:rPr lang="tr-TR" sz="2400" dirty="0" err="1"/>
              <a:t>translators</a:t>
            </a:r>
            <a:r>
              <a:rPr lang="tr-TR" sz="2400" dirty="0"/>
              <a:t> (</a:t>
            </a:r>
            <a:r>
              <a:rPr lang="tr-TR" sz="2400" b="1" dirty="0"/>
              <a:t>TXS0102</a:t>
            </a:r>
            <a:r>
              <a:rPr lang="tr-T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FPGA </a:t>
            </a:r>
            <a:r>
              <a:rPr lang="tr-TR" sz="2400" dirty="0" err="1"/>
              <a:t>or</a:t>
            </a:r>
            <a:r>
              <a:rPr lang="tr-TR" sz="2400" dirty="0"/>
              <a:t> </a:t>
            </a:r>
            <a:r>
              <a:rPr lang="tr-TR" sz="2400" dirty="0" err="1"/>
              <a:t>Microcontrollers</a:t>
            </a:r>
            <a:r>
              <a:rPr lang="tr-TR" sz="2400" dirty="0"/>
              <a:t> (STM32)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/>
          </a:p>
          <a:p>
            <a:endParaRPr lang="tr-TR" sz="2400" dirty="0"/>
          </a:p>
          <a:p>
            <a:endParaRPr lang="tr-T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5DC20-22B1-4BFA-A9F2-7B6A0DE8414C}"/>
              </a:ext>
            </a:extLst>
          </p:cNvPr>
          <p:cNvSpPr txBox="1"/>
          <p:nvPr/>
        </p:nvSpPr>
        <p:spPr>
          <a:xfrm>
            <a:off x="657725" y="2321004"/>
            <a:ext cx="412282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u="sng" dirty="0" err="1"/>
              <a:t>Differences</a:t>
            </a:r>
            <a:endParaRPr lang="tr-TR" sz="2400" u="sng" dirty="0"/>
          </a:p>
          <a:p>
            <a:r>
              <a:rPr lang="tr-TR" sz="2400" dirty="0" err="1"/>
              <a:t>Single-ended</a:t>
            </a:r>
            <a:r>
              <a:rPr lang="tr-TR" sz="2400" dirty="0"/>
              <a:t> / </a:t>
            </a:r>
            <a:r>
              <a:rPr lang="tr-TR" sz="2400" dirty="0" err="1"/>
              <a:t>Differential</a:t>
            </a:r>
            <a:endParaRPr lang="tr-TR" sz="2400" dirty="0"/>
          </a:p>
          <a:p>
            <a:r>
              <a:rPr lang="tr-TR" sz="2400" dirty="0" err="1"/>
              <a:t>Voltage</a:t>
            </a:r>
            <a:r>
              <a:rPr lang="tr-TR" sz="2400" dirty="0"/>
              <a:t> </a:t>
            </a:r>
            <a:r>
              <a:rPr lang="tr-TR" sz="2400" dirty="0" err="1"/>
              <a:t>Levels</a:t>
            </a:r>
            <a:endParaRPr lang="tr-TR" sz="2400" dirty="0"/>
          </a:p>
          <a:p>
            <a:r>
              <a:rPr lang="tr-TR" sz="2400" dirty="0" err="1"/>
              <a:t>Speed</a:t>
            </a:r>
            <a:endParaRPr lang="tr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5568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40642D-DCAF-4C7D-A285-93E219B05296}"/>
              </a:ext>
            </a:extLst>
          </p:cNvPr>
          <p:cNvSpPr/>
          <p:nvPr/>
        </p:nvSpPr>
        <p:spPr>
          <a:xfrm>
            <a:off x="4018347" y="2967335"/>
            <a:ext cx="41553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89528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EE71AE-ABC1-4CDE-896A-776C411104B9}"/>
              </a:ext>
            </a:extLst>
          </p:cNvPr>
          <p:cNvSpPr/>
          <p:nvPr/>
        </p:nvSpPr>
        <p:spPr>
          <a:xfrm>
            <a:off x="2648229" y="2967335"/>
            <a:ext cx="68955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631215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1B96F6-19E4-453A-9C21-A85458E13DE9}"/>
              </a:ext>
            </a:extLst>
          </p:cNvPr>
          <p:cNvSpPr/>
          <p:nvPr/>
        </p:nvSpPr>
        <p:spPr>
          <a:xfrm>
            <a:off x="-131686" y="-123825"/>
            <a:ext cx="12455371" cy="15375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E85ED-C1A0-4208-97AA-01278DACC031}"/>
              </a:ext>
            </a:extLst>
          </p:cNvPr>
          <p:cNvSpPr txBox="1"/>
          <p:nvPr/>
        </p:nvSpPr>
        <p:spPr>
          <a:xfrm>
            <a:off x="5318833" y="307123"/>
            <a:ext cx="1817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dirty="0">
                <a:solidFill>
                  <a:schemeClr val="bg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Q&amp;A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E3E1E-D13C-440E-8CC9-F6FFFCB036C3}"/>
              </a:ext>
            </a:extLst>
          </p:cNvPr>
          <p:cNvSpPr txBox="1"/>
          <p:nvPr/>
        </p:nvSpPr>
        <p:spPr>
          <a:xfrm>
            <a:off x="195308" y="2183907"/>
            <a:ext cx="114255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TTL</a:t>
            </a:r>
          </a:p>
          <a:p>
            <a:r>
              <a:rPr lang="tr-TR" dirty="0">
                <a:hlinkClick r:id="rId2"/>
              </a:rPr>
              <a:t>https://www.techtarget.com/whatis/definition/transistor-to-transistor-logic-TTL</a:t>
            </a:r>
            <a:endParaRPr lang="tr-TR" dirty="0"/>
          </a:p>
          <a:p>
            <a:r>
              <a:rPr lang="tr-TR" dirty="0"/>
              <a:t>CMOS</a:t>
            </a:r>
          </a:p>
          <a:p>
            <a:r>
              <a:rPr lang="en-US" dirty="0">
                <a:hlinkClick r:id="rId3"/>
              </a:rPr>
              <a:t>https://www.nxp.com/docs/en/user-guide/UM10204.pdf</a:t>
            </a:r>
            <a:endParaRPr lang="tr-TR" dirty="0"/>
          </a:p>
          <a:p>
            <a:r>
              <a:rPr lang="tr-TR" dirty="0">
                <a:hlinkClick r:id="rId4"/>
              </a:rPr>
              <a:t>https://www.allaboutcircuits.com/textbook/digital/chpt-3/logic-signal-voltage-levels</a:t>
            </a:r>
            <a:endParaRPr lang="tr-TR" dirty="0"/>
          </a:p>
          <a:p>
            <a:r>
              <a:rPr lang="tr-TR" dirty="0"/>
              <a:t>LVDS</a:t>
            </a:r>
          </a:p>
          <a:p>
            <a:r>
              <a:rPr lang="tr-TR" dirty="0">
                <a:hlinkClick r:id="rId5"/>
              </a:rPr>
              <a:t>https://www.ti.com/lit/an/snla165/snla165.pdf?ts=1753844644513</a:t>
            </a:r>
            <a:endParaRPr lang="tr-TR" dirty="0"/>
          </a:p>
          <a:p>
            <a:r>
              <a:rPr lang="tr-TR" dirty="0">
                <a:hlinkClick r:id="rId6"/>
              </a:rPr>
              <a:t>https://resources.pcb.cadence.com/blog/2023-lvds-signals-crashcourse</a:t>
            </a:r>
            <a:endParaRPr lang="tr-TR" dirty="0"/>
          </a:p>
          <a:p>
            <a:r>
              <a:rPr lang="tr-TR" dirty="0"/>
              <a:t>LVPECL</a:t>
            </a:r>
          </a:p>
          <a:p>
            <a:r>
              <a:rPr lang="tr-TR" dirty="0">
                <a:hlinkClick r:id="rId7"/>
              </a:rPr>
              <a:t>https://www.renesas.com/en/document/apn/lvds-pecl-termination-app-note</a:t>
            </a:r>
            <a:endParaRPr lang="tr-TR" dirty="0"/>
          </a:p>
          <a:p>
            <a:r>
              <a:rPr lang="tr-TR" dirty="0">
                <a:hlinkClick r:id="rId8"/>
              </a:rPr>
              <a:t>https://www.ti.com/lit/an/slla120/slla120.pdf</a:t>
            </a:r>
            <a:endParaRPr lang="tr-TR" dirty="0"/>
          </a:p>
          <a:p>
            <a:r>
              <a:rPr lang="tr-TR" dirty="0">
                <a:hlinkClick r:id="rId9"/>
              </a:rPr>
              <a:t>https://www.rfwireless-world.com/terminology/ecl-vs-pecl-vs-lvpecl</a:t>
            </a:r>
            <a:endParaRPr lang="tr-TR" dirty="0"/>
          </a:p>
          <a:p>
            <a:r>
              <a:rPr lang="tr-TR" dirty="0"/>
              <a:t>General Information</a:t>
            </a:r>
          </a:p>
          <a:p>
            <a:r>
              <a:rPr lang="tr-TR" dirty="0">
                <a:hlinkClick r:id="rId10"/>
              </a:rPr>
              <a:t>https://ww1.microchip.com/downloads/aemDocuments/documents/VOP/ApplicationNotes/ApplicationNotes/Signal+Types+and+Terminations.pdf</a:t>
            </a:r>
            <a:endParaRPr lang="tr-T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C19D50-34F6-4A17-BA25-485934DCA88F}"/>
              </a:ext>
            </a:extLst>
          </p:cNvPr>
          <p:cNvSpPr/>
          <p:nvPr/>
        </p:nvSpPr>
        <p:spPr>
          <a:xfrm>
            <a:off x="195308" y="1537576"/>
            <a:ext cx="22420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3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References</a:t>
            </a:r>
            <a:endParaRPr lang="tr-TR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66859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e875f797-c04f-4340-a214-46f73bdaefd8</TitusGUID>
  <TitusMetadata xmlns="">eyJucyI6IkFTRUxTQU4iLCJwcm9wcyI6W3sibiI6IkxBTkdVQUdFIiwidmFscyI6W3sidmFsdWUiOiJFTiJ9XX0seyJuIjoiQ0FURUdPUlkiLCJ2YWxzIjpbeyJ2YWx1ZSI6IkNUMSJ9XX0seyJuIjoiTUlMTElDTEFTU0lGSUNBVElPTiIsInZhbHMiOlt7InZhbHVlIjoiQUhjMm4zQjlzIn1dfSx7Im4iOiJOQVRPQ0xBU1NJRklDQVRJT04iLCJ2YWxzIjpbXX0seyJuIjoiS1ZLSyIsInZhbHMiOlt7InZhbHVlIjoiQTY1dmVFN0FLIn1dfSx7Im4iOiJMQUJFTElORyIsInZhbHMiOltdfV19</TitusMetadata>
</titus>
</file>

<file path=customXml/itemProps1.xml><?xml version="1.0" encoding="utf-8"?>
<ds:datastoreItem xmlns:ds="http://schemas.openxmlformats.org/officeDocument/2006/customXml" ds:itemID="{A41D2620-DAD0-4A64-8180-7894E6F76D63}">
  <ds:schemaRefs>
    <ds:schemaRef ds:uri="http://schemas.titus.com/TitusPropertie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2411</TotalTime>
  <Words>557</Words>
  <Application>Microsoft Office PowerPoint</Application>
  <PresentationFormat>Widescreen</PresentationFormat>
  <Paragraphs>156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Nirmala UI Semilight</vt:lpstr>
      <vt:lpstr>Trebuchet MS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Hamza SOLMAZ</dc:creator>
  <cp:keywords>Gizlilik Derecesini Seçiniz</cp:keywords>
  <cp:lastModifiedBy>Ömer BAĞCIGİL</cp:lastModifiedBy>
  <cp:revision>66</cp:revision>
  <dcterms:created xsi:type="dcterms:W3CDTF">2025-07-25T05:55:12Z</dcterms:created>
  <dcterms:modified xsi:type="dcterms:W3CDTF">2025-08-01T10:05:20Z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e875f797-c04f-4340-a214-46f73bdaefd8</vt:lpwstr>
  </property>
  <property fmtid="{D5CDD505-2E9C-101B-9397-08002B2CF9AE}" pid="3" name="LANGUAGE">
    <vt:lpwstr>EN</vt:lpwstr>
  </property>
  <property fmtid="{D5CDD505-2E9C-101B-9397-08002B2CF9AE}" pid="4" name="CATEGORY">
    <vt:lpwstr>CT1</vt:lpwstr>
  </property>
  <property fmtid="{D5CDD505-2E9C-101B-9397-08002B2CF9AE}" pid="5" name="MILLICLASSIFICATION">
    <vt:lpwstr>AHc2n3B9s</vt:lpwstr>
  </property>
  <property fmtid="{D5CDD505-2E9C-101B-9397-08002B2CF9AE}" pid="6" name="KVKK">
    <vt:lpwstr>A65veE7AK</vt:lpwstr>
  </property>
  <property fmtid="{D5CDD505-2E9C-101B-9397-08002B2CF9AE}" pid="7" name="LABELING">
    <vt:lpwstr/>
  </property>
</Properties>
</file>